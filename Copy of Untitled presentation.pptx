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1b8ca7b9aa08c4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1b8ca7b9aa08c4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194692"/>
            <a:ext cx="8952258" cy="5143386"/>
            <a:chOff x="0" y="357648"/>
            <a:chExt cx="11118055" cy="5091453"/>
          </a:xfrm>
        </p:grpSpPr>
        <p:sp>
          <p:nvSpPr>
            <p:cNvPr id="55" name="Google Shape;55;p13"/>
            <p:cNvSpPr/>
            <p:nvPr/>
          </p:nvSpPr>
          <p:spPr>
            <a:xfrm>
              <a:off x="540398" y="357648"/>
              <a:ext cx="853500" cy="8535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0" y="1456943"/>
              <a:ext cx="24384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0" y="1456943"/>
              <a:ext cx="24384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r>
                <a:rPr b="1" i="0" lang="en" sz="17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1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1928" y="2084001"/>
              <a:ext cx="2438400" cy="3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1928" y="2084001"/>
              <a:ext cx="2438400" cy="3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Governs processing of "digital personal data“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Excludes processing for personal or domestic purposes and data in records over 100 years old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Applies to processing of data outside India related to Indian Data Principals' profiles or provision of goods/services to them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429382" y="410327"/>
              <a:ext cx="1017900" cy="7266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2039" l="899" r="269" t="59"/>
              </a:stretch>
            </a:blip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953814" y="1449276"/>
              <a:ext cx="24384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2953814" y="1449276"/>
              <a:ext cx="24384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Personal Data: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2949327" y="2002708"/>
              <a:ext cx="2438400" cy="3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 txBox="1"/>
            <p:nvPr/>
          </p:nvSpPr>
          <p:spPr>
            <a:xfrm>
              <a:off x="2949327" y="2002708"/>
              <a:ext cx="2438400" cy="34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All personal data falls under a single category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Classification of sensitive portions (biometric, healthcare data) allows gradual consent and penalties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6376780" y="385760"/>
              <a:ext cx="853500" cy="8535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5814491" y="1456943"/>
              <a:ext cx="24384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5814491" y="1456943"/>
              <a:ext cx="24384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Personal Data Breach:</a:t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5814491" y="2084001"/>
              <a:ext cx="2438400" cy="3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5814491" y="2084001"/>
              <a:ext cx="2438400" cy="3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Unauthorized processing, disclosure, acquisition, etc., compromising confidentiality, integrity, or availability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Notification requirement for data fiduciary/processor to inform the Board and affected data principals</a:t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9241944" y="413685"/>
              <a:ext cx="853500" cy="8535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89896" l="-59465" r="-59166" t="-45947"/>
              </a:stretch>
            </a:blip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8679655" y="1466276"/>
              <a:ext cx="24384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 txBox="1"/>
            <p:nvPr/>
          </p:nvSpPr>
          <p:spPr>
            <a:xfrm>
              <a:off x="8679655" y="1466276"/>
              <a:ext cx="2438400" cy="52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Notice and Consent:</a:t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679655" y="2084001"/>
              <a:ext cx="2438400" cy="3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 txBox="1"/>
            <p:nvPr/>
          </p:nvSpPr>
          <p:spPr>
            <a:xfrm>
              <a:off x="8679655" y="2084001"/>
              <a:ext cx="2438400" cy="3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"</a:t>
              </a: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Deemed permission" for freely given personal information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Limited circumstances for presumed consent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4"/>
          <p:cNvGrpSpPr/>
          <p:nvPr/>
        </p:nvGrpSpPr>
        <p:grpSpPr>
          <a:xfrm>
            <a:off x="0" y="1"/>
            <a:ext cx="9144396" cy="5143510"/>
            <a:chOff x="5815" y="558827"/>
            <a:chExt cx="11108353" cy="4629205"/>
          </a:xfrm>
        </p:grpSpPr>
        <p:sp>
          <p:nvSpPr>
            <p:cNvPr id="80" name="Google Shape;80;p14"/>
            <p:cNvSpPr/>
            <p:nvPr/>
          </p:nvSpPr>
          <p:spPr>
            <a:xfrm>
              <a:off x="882609" y="558827"/>
              <a:ext cx="1160700" cy="11607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-54356" l="-50348" r="-29517" t="-36228"/>
              </a:stretch>
            </a:blip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815" y="1918459"/>
              <a:ext cx="33159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4"/>
            <p:cNvSpPr txBox="1"/>
            <p:nvPr/>
          </p:nvSpPr>
          <p:spPr>
            <a:xfrm>
              <a:off x="5815" y="1918459"/>
              <a:ext cx="33159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Deemed Consent:</a:t>
              </a:r>
              <a:endParaRPr b="1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5815" y="2508432"/>
              <a:ext cx="3315900" cy="26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5815" y="2508432"/>
              <a:ext cx="3315900" cy="26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Instances where permission is not expressly required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Public interest grounds for presumed consent defined by government regulation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 explicit inclusion of "legitimate interests" or "performance of a contract" justifications</a:t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4778835" y="558827"/>
              <a:ext cx="1160700" cy="11607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40246" l="-37567" r="-39188" t="-36857"/>
              </a:stretch>
            </a:blip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3902042" y="1918459"/>
              <a:ext cx="33159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3902042" y="1918459"/>
              <a:ext cx="33159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Rights of the Data Principal:</a:t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3902042" y="2508432"/>
              <a:ext cx="3315900" cy="26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4"/>
            <p:cNvSpPr txBox="1"/>
            <p:nvPr/>
          </p:nvSpPr>
          <p:spPr>
            <a:xfrm>
              <a:off x="3902042" y="2508432"/>
              <a:ext cx="3315900" cy="26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Right to information on processing of personal data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Right to correction or erasure of personal data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Right of grievance redressal through data fiduciary and the Board</a:t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8675062" y="558827"/>
              <a:ext cx="1160700" cy="11607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-38999" r="-38999" t="0"/>
              </a:stretch>
            </a:blipFill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7798268" y="1918459"/>
              <a:ext cx="33159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 txBox="1"/>
            <p:nvPr/>
          </p:nvSpPr>
          <p:spPr>
            <a:xfrm>
              <a:off x="7798268" y="1918459"/>
              <a:ext cx="33159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Cross-border Data Transfers:</a:t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7798268" y="2508432"/>
              <a:ext cx="3315900" cy="26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 txBox="1"/>
            <p:nvPr/>
          </p:nvSpPr>
          <p:spPr>
            <a:xfrm>
              <a:off x="7798268" y="2508432"/>
              <a:ext cx="3315900" cy="267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 requirements for local storage/localization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New restrictions on international data transfers, with government notification of recipient countries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Similar to GDPR's adequacy approach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